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9" r:id="rId11"/>
  </p:sldIdLst>
  <p:sldSz cx="18288000" cy="10287000"/>
  <p:notesSz cx="6858000" cy="9144000"/>
  <p:embeddedFontLst>
    <p:embeddedFont>
      <p:font typeface="Bricolage Grotesque" panose="020B0604020202020204" charset="0"/>
      <p:bold r:id="rId13"/>
    </p:embeddedFont>
    <p:embeddedFont>
      <p:font typeface="Bricolage Grotesque SemiBold" panose="020B0604020202020204" charset="0"/>
      <p:regular r:id="rId14"/>
      <p:bold r:id="rId15"/>
    </p:embeddedFont>
    <p:embeddedFont>
      <p:font typeface="Times" panose="0202060305040502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avLst/>
            <a:gdLst/>
            <a:ahLst/>
            <a:cxnLst/>
            <a:rect l="l" t="t" r="r" b="b"/>
            <a:pathLst>
              <a:path w="1202194" h="1387131" extrusionOk="0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41" b="-240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 extrusionOk="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206038" y="3141509"/>
            <a:ext cx="10528637" cy="4120631"/>
            <a:chOff x="0" y="-95250"/>
            <a:chExt cx="14038183" cy="5494176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12606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rgbClr val="B0AFD3"/>
                  </a:solidFill>
                  <a:latin typeface="Times New Roman" panose="02020603050405020304" pitchFamily="18" charset="0"/>
                  <a:ea typeface="Trochut"/>
                  <a:cs typeface="Times New Roman" panose="02020603050405020304" pitchFamily="18" charset="0"/>
                  <a:sym typeface="Trochut"/>
                </a:rPr>
                <a:t> </a:t>
              </a:r>
              <a:r>
                <a:rPr lang="en-US" sz="4800" b="0" i="0" u="none" strike="noStrike" cap="none" dirty="0">
                  <a:solidFill>
                    <a:schemeClr val="tx2"/>
                  </a:solidFill>
                  <a:latin typeface="Times New Roman" panose="02020603050405020304" pitchFamily="18" charset="0"/>
                  <a:ea typeface="Trochut"/>
                  <a:cs typeface="Times New Roman" panose="02020603050405020304" pitchFamily="18" charset="0"/>
                  <a:sym typeface="Trochut"/>
                </a:rPr>
                <a:t>Air Fly Smart Delay Prediction Syste</a:t>
              </a:r>
              <a:r>
                <a:rPr lang="en-US" sz="4800" dirty="0">
                  <a:solidFill>
                    <a:schemeClr val="tx2"/>
                  </a:solidFill>
                  <a:latin typeface="Times New Roman" panose="02020603050405020304" pitchFamily="18" charset="0"/>
                  <a:ea typeface="Trochut"/>
                  <a:cs typeface="Times New Roman" panose="02020603050405020304" pitchFamily="18" charset="0"/>
                  <a:sym typeface="Trochut"/>
                </a:rPr>
                <a:t>m</a:t>
              </a:r>
              <a:endParaRPr lang="en-US" sz="4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86609" y="2518138"/>
              <a:ext cx="13742123" cy="2880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FFFFFF"/>
                  </a:solidFill>
                </a:rPr>
                <a:t>Name: M . Chandrika (Batch-13)</a:t>
              </a:r>
            </a:p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FFFFFF"/>
                  </a:solidFill>
                </a:rPr>
                <a:t>Project Name:  Air Fly Insights Data Visualization and Analysis of Airline Operations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</a:t>
            </a:r>
            <a:endParaRPr dirty="0"/>
          </a:p>
        </p:txBody>
      </p:sp>
      <p:pic>
        <p:nvPicPr>
          <p:cNvPr id="1026" name="Picture 2" descr="Streamlit - Revolutionizing Data App ...">
            <a:extLst>
              <a:ext uri="{FF2B5EF4-FFF2-40B4-BE49-F238E27FC236}">
                <a16:creationId xmlns:a16="http://schemas.microsoft.com/office/drawing/2014/main" id="{82C045AE-6DB8-9426-1A81-F2F715DB9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56" y="3119744"/>
            <a:ext cx="4483509" cy="3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me Python libraries for machine learning | by Nischal Madiraju | Medium">
            <a:extLst>
              <a:ext uri="{FF2B5EF4-FFF2-40B4-BE49-F238E27FC236}">
                <a16:creationId xmlns:a16="http://schemas.microsoft.com/office/drawing/2014/main" id="{F127D2B5-49D2-2831-6A48-E52839EC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568" y="3119744"/>
            <a:ext cx="5058697" cy="3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- Kunal Cyber Security">
            <a:extLst>
              <a:ext uri="{FF2B5EF4-FFF2-40B4-BE49-F238E27FC236}">
                <a16:creationId xmlns:a16="http://schemas.microsoft.com/office/drawing/2014/main" id="{D8DDFD57-B123-A5A6-779C-80E317EF7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657" y="3045771"/>
            <a:ext cx="3965472" cy="3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FA3342-FBC8-9CAC-2FA8-42E25A983D76}"/>
              </a:ext>
            </a:extLst>
          </p:cNvPr>
          <p:cNvSpPr txBox="1"/>
          <p:nvPr/>
        </p:nvSpPr>
        <p:spPr>
          <a:xfrm>
            <a:off x="1961535" y="7834000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Front  end</a:t>
            </a:r>
            <a:endParaRPr lang="en-IN" sz="180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63C9D-05FB-2A11-E3CE-AC0A6EC8FED9}"/>
              </a:ext>
            </a:extLst>
          </p:cNvPr>
          <p:cNvSpPr txBox="1"/>
          <p:nvPr/>
        </p:nvSpPr>
        <p:spPr>
          <a:xfrm>
            <a:off x="7698657" y="7834000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Middle Ware</a:t>
            </a:r>
            <a:endParaRPr lang="en-IN" sz="180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96CD2-65CD-14BA-B85D-4552AC9193BC}"/>
              </a:ext>
            </a:extLst>
          </p:cNvPr>
          <p:cNvSpPr txBox="1"/>
          <p:nvPr/>
        </p:nvSpPr>
        <p:spPr>
          <a:xfrm rot="10800000" flipV="1">
            <a:off x="14571406" y="7649335"/>
            <a:ext cx="175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Back end</a:t>
            </a:r>
            <a:endParaRPr lang="en-IN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A23A5-5357-B7C6-144F-55428F50DF41}"/>
              </a:ext>
            </a:extLst>
          </p:cNvPr>
          <p:cNvSpPr txBox="1"/>
          <p:nvPr/>
        </p:nvSpPr>
        <p:spPr>
          <a:xfrm>
            <a:off x="943897" y="2713704"/>
            <a:ext cx="14512413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Interactive Dashboard:- </a:t>
            </a:r>
            <a:r>
              <a:rPr lang="en-US" sz="2400" dirty="0">
                <a:solidFill>
                  <a:schemeClr val="tx2"/>
                </a:solidFill>
              </a:rPr>
              <a:t>User-friendly interface built with </a:t>
            </a:r>
            <a:r>
              <a:rPr lang="en-US" sz="2400" b="1" dirty="0" err="1">
                <a:solidFill>
                  <a:schemeClr val="tx2"/>
                </a:solidFill>
              </a:rPr>
              <a:t>Streamlit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, Real-time display of analytics and insights , Dynamic charts and visualizations using </a:t>
            </a:r>
            <a:r>
              <a:rPr lang="en-US" sz="2400" b="1" dirty="0">
                <a:solidFill>
                  <a:schemeClr val="tx2"/>
                </a:solidFill>
              </a:rPr>
              <a:t>Matplotlib/Seaborn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Machine Learning Integration:-   </a:t>
            </a:r>
            <a:r>
              <a:rPr lang="en-US" sz="2400" dirty="0">
                <a:solidFill>
                  <a:schemeClr val="tx2"/>
                </a:solidFill>
              </a:rPr>
              <a:t>Predictive analytics with </a:t>
            </a:r>
            <a:r>
              <a:rPr lang="en-US" sz="2400" b="1" dirty="0">
                <a:solidFill>
                  <a:schemeClr val="tx2"/>
                </a:solidFill>
              </a:rPr>
              <a:t>Random Forest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Logistic Regression</a:t>
            </a:r>
            <a:r>
              <a:rPr lang="en-US" sz="2400" dirty="0">
                <a:solidFill>
                  <a:schemeClr val="tx2"/>
                </a:solidFill>
              </a:rPr>
              <a:t> ,Model training and evaluation for accurate results ,Ability to save/load models using </a:t>
            </a:r>
            <a:r>
              <a:rPr lang="en-US" sz="2400" b="1" dirty="0" err="1">
                <a:solidFill>
                  <a:schemeClr val="tx2"/>
                </a:solidFill>
              </a:rPr>
              <a:t>Joblib</a:t>
            </a:r>
            <a:r>
              <a:rPr lang="en-US" sz="2400" b="1" dirty="0">
                <a:solidFill>
                  <a:schemeClr val="tx2"/>
                </a:solidFill>
              </a:rPr>
              <a:t> / Pickle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Data Handling &amp; Analysis:- </a:t>
            </a:r>
            <a:r>
              <a:rPr lang="en-US" sz="2400" dirty="0">
                <a:solidFill>
                  <a:schemeClr val="tx2"/>
                </a:solidFill>
              </a:rPr>
              <a:t>Efficient data processing with </a:t>
            </a:r>
            <a:r>
              <a:rPr lang="en-US" sz="2400" b="1" dirty="0">
                <a:solidFill>
                  <a:schemeClr val="tx2"/>
                </a:solidFill>
              </a:rPr>
              <a:t>Pandas / NumPy</a:t>
            </a:r>
            <a:r>
              <a:rPr lang="en-US" sz="2400" dirty="0">
                <a:solidFill>
                  <a:schemeClr val="tx2"/>
                </a:solidFill>
              </a:rPr>
              <a:t> ,Clean, structured input for ML models ,Data filtering, aggregation, and transformation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Backend Functionality:- </a:t>
            </a:r>
            <a:r>
              <a:rPr lang="en-US" sz="2400" dirty="0">
                <a:solidFill>
                  <a:schemeClr val="tx2"/>
                </a:solidFill>
              </a:rPr>
              <a:t>Business logic handled with </a:t>
            </a:r>
            <a:r>
              <a:rPr lang="en-US" sz="2400" b="1" dirty="0">
                <a:solidFill>
                  <a:schemeClr val="tx2"/>
                </a:solidFill>
              </a:rPr>
              <a:t>Python,</a:t>
            </a:r>
            <a:r>
              <a:rPr lang="en-US" sz="2400" dirty="0">
                <a:solidFill>
                  <a:schemeClr val="tx2"/>
                </a:solidFill>
              </a:rPr>
              <a:t> Smooth connection between frontend (dashboard) and ML models 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</a:p>
          <a:p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Development &amp; Collaboration Tools:- </a:t>
            </a:r>
            <a:r>
              <a:rPr lang="en-US" sz="2400" dirty="0">
                <a:solidFill>
                  <a:schemeClr val="tx2"/>
                </a:solidFill>
              </a:rPr>
              <a:t>Version control and team collaboration via </a:t>
            </a:r>
            <a:r>
              <a:rPr lang="en-US" sz="2400" b="1" dirty="0">
                <a:solidFill>
                  <a:schemeClr val="tx2"/>
                </a:solidFill>
              </a:rPr>
              <a:t>Git &amp; GitHub</a:t>
            </a:r>
            <a:r>
              <a:rPr lang="en-US" sz="2400" dirty="0">
                <a:solidFill>
                  <a:schemeClr val="tx2"/>
                </a:solidFill>
              </a:rPr>
              <a:t> ,Code editing and debugging with </a:t>
            </a:r>
            <a:r>
              <a:rPr lang="en-US" sz="2400" b="1" dirty="0">
                <a:solidFill>
                  <a:schemeClr val="tx2"/>
                </a:solidFill>
              </a:rPr>
              <a:t>VS Code / PyCharm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 Deployment Ready:- </a:t>
            </a:r>
            <a:r>
              <a:rPr lang="en-US" sz="2400" dirty="0">
                <a:solidFill>
                  <a:schemeClr val="tx2"/>
                </a:solidFill>
              </a:rPr>
              <a:t>Easy deployment for users to access the dashboard online ,Potential to integrate with cloud platforms for real-time usage</a:t>
            </a:r>
          </a:p>
          <a:p>
            <a:endParaRPr lang="en-IN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20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Facing</a:t>
            </a:r>
            <a:endParaRPr dirty="0"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4"/>
          <p:cNvSpPr txBox="1"/>
          <p:nvPr/>
        </p:nvSpPr>
        <p:spPr>
          <a:xfrm>
            <a:off x="12872519" y="2833411"/>
            <a:ext cx="4748625" cy="282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Model Accuracy &amp; Overfitting</a:t>
            </a:r>
          </a:p>
          <a:p>
            <a:r>
              <a:rPr lang="en-IN" sz="2000" dirty="0">
                <a:solidFill>
                  <a:schemeClr val="tx2"/>
                </a:solidFill>
              </a:rPr>
              <a:t>ML models like Random Forest or Logistic Regression may overfit on training data </a:t>
            </a:r>
          </a:p>
          <a:p>
            <a:r>
              <a:rPr lang="en-IN" sz="2000" dirty="0">
                <a:solidFill>
                  <a:schemeClr val="tx2"/>
                </a:solidFill>
              </a:rPr>
              <a:t>Ensuring generalization to new/unseen data is challenging </a:t>
            </a:r>
          </a:p>
          <a:p>
            <a:r>
              <a:rPr lang="en-IN" sz="2000" dirty="0">
                <a:solidFill>
                  <a:schemeClr val="tx2"/>
                </a:solidFill>
              </a:rPr>
              <a:t>Requires hyperparameter tuning and validation techniques (like K-Fold Cross Validation)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60" name="Google Shape;160;p4"/>
          <p:cNvSpPr txBox="1"/>
          <p:nvPr/>
        </p:nvSpPr>
        <p:spPr>
          <a:xfrm>
            <a:off x="7858075" y="2288100"/>
            <a:ext cx="47486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2"/>
              </a:solidFill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7858117" y="7218336"/>
            <a:ext cx="4748625" cy="301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Integration Between Components</a:t>
            </a:r>
          </a:p>
          <a:p>
            <a:r>
              <a:rPr lang="en-US" sz="2000" dirty="0">
                <a:solidFill>
                  <a:schemeClr val="tx2"/>
                </a:solidFill>
              </a:rPr>
              <a:t>Linking </a:t>
            </a:r>
            <a:r>
              <a:rPr lang="en-US" sz="2000" b="1" dirty="0" err="1">
                <a:solidFill>
                  <a:schemeClr val="tx2"/>
                </a:solidFill>
              </a:rPr>
              <a:t>Streamlit</a:t>
            </a:r>
            <a:r>
              <a:rPr lang="en-US" sz="2000" b="1" dirty="0">
                <a:solidFill>
                  <a:schemeClr val="tx2"/>
                </a:solidFill>
              </a:rPr>
              <a:t> frontend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b="1" dirty="0">
                <a:solidFill>
                  <a:schemeClr val="tx2"/>
                </a:solidFill>
              </a:rPr>
              <a:t>Python backend</a:t>
            </a:r>
            <a:r>
              <a:rPr lang="en-US" sz="2000" dirty="0">
                <a:solidFill>
                  <a:schemeClr val="tx2"/>
                </a:solidFill>
              </a:rPr>
              <a:t>, and </a:t>
            </a:r>
            <a:r>
              <a:rPr lang="en-US" sz="2000" b="1" dirty="0">
                <a:solidFill>
                  <a:schemeClr val="tx2"/>
                </a:solidFill>
              </a:rPr>
              <a:t>ML models</a:t>
            </a:r>
            <a:r>
              <a:rPr lang="en-US" sz="2000" dirty="0">
                <a:solidFill>
                  <a:schemeClr val="tx2"/>
                </a:solidFill>
              </a:rPr>
              <a:t> smoothly can be tricky </a:t>
            </a:r>
          </a:p>
          <a:p>
            <a:r>
              <a:rPr lang="en-US" sz="2000" dirty="0">
                <a:solidFill>
                  <a:schemeClr val="tx2"/>
                </a:solidFill>
              </a:rPr>
              <a:t>Middleware handling and model loading must be efficient to avoid delays in dashboard response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4"/>
          <p:cNvSpPr txBox="1"/>
          <p:nvPr/>
        </p:nvSpPr>
        <p:spPr>
          <a:xfrm>
            <a:off x="12981269" y="7283186"/>
            <a:ext cx="4748625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Deployment &amp; Scalability</a:t>
            </a:r>
          </a:p>
          <a:p>
            <a:r>
              <a:rPr lang="en-US" sz="2400" dirty="0">
                <a:solidFill>
                  <a:schemeClr val="tx2"/>
                </a:solidFill>
              </a:rPr>
              <a:t>Deploying the dashboard for multiple users simultaneously may cause performance issues </a:t>
            </a:r>
          </a:p>
          <a:p>
            <a:r>
              <a:rPr lang="en-US" sz="2400" dirty="0">
                <a:solidFill>
                  <a:schemeClr val="tx2"/>
                </a:solidFill>
              </a:rPr>
              <a:t>Cloud deployment, resource management, and scaling the ML models need careful planning </a:t>
            </a:r>
          </a:p>
        </p:txBody>
      </p: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9E99E-C147-B52E-EF7B-4D1721931669}"/>
              </a:ext>
            </a:extLst>
          </p:cNvPr>
          <p:cNvSpPr txBox="1"/>
          <p:nvPr/>
        </p:nvSpPr>
        <p:spPr>
          <a:xfrm>
            <a:off x="7628223" y="2582897"/>
            <a:ext cx="400532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Data Quality &amp; Preprocessing</a:t>
            </a:r>
          </a:p>
          <a:p>
            <a:r>
              <a:rPr lang="en-US" sz="2000" dirty="0">
                <a:solidFill>
                  <a:schemeClr val="tx2"/>
                </a:solidFill>
              </a:rPr>
              <a:t>Real-world data may have missing values, outliers, or inconsistencies </a:t>
            </a:r>
          </a:p>
          <a:p>
            <a:r>
              <a:rPr lang="en-US" sz="2000" dirty="0">
                <a:solidFill>
                  <a:schemeClr val="tx2"/>
                </a:solidFill>
              </a:rPr>
              <a:t>Cleaning and preparing data for ML models can be time-consuming </a:t>
            </a:r>
          </a:p>
          <a:p>
            <a:r>
              <a:rPr lang="en-US" sz="2000" dirty="0">
                <a:solidFill>
                  <a:schemeClr val="tx2"/>
                </a:solidFill>
              </a:rPr>
              <a:t>Requires careful handling to avoid inaccurate predictions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1567022"/>
            <a:chOff x="0" y="-512625"/>
            <a:chExt cx="21785400" cy="2089363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9"/>
              <a:ext cx="21785400" cy="370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4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System Architecture Overview</a:t>
              </a:r>
              <a:endParaRPr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C8D7FB-692F-9BA8-BF84-D67205A952ED}"/>
              </a:ext>
            </a:extLst>
          </p:cNvPr>
          <p:cNvSpPr txBox="1"/>
          <p:nvPr/>
        </p:nvSpPr>
        <p:spPr>
          <a:xfrm>
            <a:off x="974459" y="3554750"/>
            <a:ext cx="1594194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1. Frontend (User Interface)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chemeClr val="tx2"/>
                </a:solidFill>
              </a:rPr>
              <a:t>Streamlit</a:t>
            </a:r>
            <a:r>
              <a:rPr lang="en-IN" sz="2000" b="1" dirty="0">
                <a:solidFill>
                  <a:schemeClr val="tx2"/>
                </a:solidFill>
              </a:rPr>
              <a:t>  Dashboard</a:t>
            </a:r>
            <a:r>
              <a:rPr lang="en-IN" sz="2000" dirty="0">
                <a:solidFill>
                  <a:schemeClr val="tx2"/>
                </a:solidFill>
              </a:rPr>
              <a:t>: Interactive visual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Charts &amp; Visuals</a:t>
            </a:r>
            <a:r>
              <a:rPr lang="en-IN" sz="2000" dirty="0">
                <a:solidFill>
                  <a:schemeClr val="tx2"/>
                </a:solidFill>
              </a:rPr>
              <a:t>: Real-time graphs using Matplotlib/Seaborn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User Input</a:t>
            </a:r>
            <a:r>
              <a:rPr lang="en-IN" sz="2000" dirty="0">
                <a:solidFill>
                  <a:schemeClr val="tx2"/>
                </a:solidFill>
              </a:rPr>
              <a:t>: Filters, selections, and data upload 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2. Backend (Application Logic)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Python Core</a:t>
            </a:r>
            <a:r>
              <a:rPr lang="en-IN" sz="2000" dirty="0">
                <a:solidFill>
                  <a:schemeClr val="tx2"/>
                </a:solidFill>
              </a:rPr>
              <a:t>: Handles user requests and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Data Preprocessing</a:t>
            </a:r>
            <a:r>
              <a:rPr lang="en-IN" sz="2000" dirty="0">
                <a:solidFill>
                  <a:schemeClr val="tx2"/>
                </a:solidFill>
              </a:rPr>
              <a:t>: Cleans and formats data for ML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API Endpoints</a:t>
            </a:r>
            <a:r>
              <a:rPr lang="en-IN" sz="2000" dirty="0">
                <a:solidFill>
                  <a:schemeClr val="tx2"/>
                </a:solidFill>
              </a:rPr>
              <a:t> (if any): For data or model access 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3. Middleware / ML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Scikit-learn Models</a:t>
            </a:r>
            <a:r>
              <a:rPr lang="en-IN" sz="2000" dirty="0">
                <a:solidFill>
                  <a:schemeClr val="tx2"/>
                </a:solidFill>
              </a:rPr>
              <a:t>: Random Forest, Logistic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Data Manipulation</a:t>
            </a:r>
            <a:r>
              <a:rPr lang="en-IN" sz="2000" dirty="0">
                <a:solidFill>
                  <a:schemeClr val="tx2"/>
                </a:solidFill>
              </a:rPr>
              <a:t>: Pandas / 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Model Persistence</a:t>
            </a:r>
            <a:r>
              <a:rPr lang="en-IN" sz="2000" dirty="0">
                <a:solidFill>
                  <a:schemeClr val="tx2"/>
                </a:solidFill>
              </a:rPr>
              <a:t>: </a:t>
            </a:r>
            <a:r>
              <a:rPr lang="en-IN" sz="2000" dirty="0" err="1">
                <a:solidFill>
                  <a:schemeClr val="tx2"/>
                </a:solidFill>
              </a:rPr>
              <a:t>Joblib</a:t>
            </a:r>
            <a:r>
              <a:rPr lang="en-IN" sz="2000" dirty="0">
                <a:solidFill>
                  <a:schemeClr val="tx2"/>
                </a:solidFill>
              </a:rPr>
              <a:t> / Pickle to save/load models 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4. Development &amp; Deployment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IDE</a:t>
            </a:r>
            <a:r>
              <a:rPr lang="en-IN" sz="2000" dirty="0">
                <a:solidFill>
                  <a:schemeClr val="tx2"/>
                </a:solidFill>
              </a:rPr>
              <a:t>: VS Code / PyCharm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Version Control</a:t>
            </a:r>
            <a:r>
              <a:rPr lang="en-IN" sz="2000" dirty="0">
                <a:solidFill>
                  <a:schemeClr val="tx2"/>
                </a:solidFill>
              </a:rPr>
              <a:t>: Git &amp; 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Deployment</a:t>
            </a:r>
            <a:r>
              <a:rPr lang="en-IN" sz="2000" dirty="0">
                <a:solidFill>
                  <a:schemeClr val="tx2"/>
                </a:solidFill>
              </a:rPr>
              <a:t>: </a:t>
            </a:r>
            <a:r>
              <a:rPr lang="en-IN" sz="2000" dirty="0" err="1">
                <a:solidFill>
                  <a:schemeClr val="tx2"/>
                </a:solidFill>
              </a:rPr>
              <a:t>Streamlit</a:t>
            </a:r>
            <a:r>
              <a:rPr lang="en-IN" sz="2000" dirty="0">
                <a:solidFill>
                  <a:schemeClr val="tx2"/>
                </a:solidFill>
              </a:rPr>
              <a:t> Cloud, local server, or cloud hosting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Flow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User → </a:t>
            </a:r>
            <a:r>
              <a:rPr lang="en-IN" sz="2000" b="1" dirty="0" err="1">
                <a:solidFill>
                  <a:schemeClr val="tx2"/>
                </a:solidFill>
              </a:rPr>
              <a:t>Streamlit</a:t>
            </a:r>
            <a:r>
              <a:rPr lang="en-IN" sz="2000" b="1" dirty="0">
                <a:solidFill>
                  <a:schemeClr val="tx2"/>
                </a:solidFill>
              </a:rPr>
              <a:t> UI → Python Backend → ML Models → Results → </a:t>
            </a:r>
            <a:r>
              <a:rPr lang="en-IN" sz="2000" b="1" dirty="0" err="1">
                <a:solidFill>
                  <a:schemeClr val="tx2"/>
                </a:solidFill>
              </a:rPr>
              <a:t>Streamlit</a:t>
            </a:r>
            <a:r>
              <a:rPr lang="en-IN" sz="2000" b="1" dirty="0">
                <a:solidFill>
                  <a:schemeClr val="tx2"/>
                </a:solidFill>
              </a:rPr>
              <a:t> UI</a:t>
            </a:r>
            <a:endParaRPr lang="en-IN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50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</a:t>
            </a:r>
            <a:endParaRPr dirty="0"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6"/>
          <p:cNvSpPr txBox="1"/>
          <p:nvPr/>
        </p:nvSpPr>
        <p:spPr>
          <a:xfrm>
            <a:off x="13052323" y="3049111"/>
            <a:ext cx="4568927" cy="276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Model Accuracy &amp; Overfitting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Challenge:</a:t>
            </a:r>
            <a:r>
              <a:rPr lang="en-IN" sz="2000" dirty="0">
                <a:solidFill>
                  <a:schemeClr val="tx2"/>
                </a:solidFill>
              </a:rPr>
              <a:t> ML models may overfit training data, performing poorly on new data. 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Solution:</a:t>
            </a:r>
            <a:r>
              <a:rPr lang="en-IN" sz="2000" dirty="0">
                <a:solidFill>
                  <a:schemeClr val="tx2"/>
                </a:solidFill>
              </a:rPr>
              <a:t> Apply </a:t>
            </a:r>
            <a:r>
              <a:rPr lang="en-IN" sz="2000" b="1" dirty="0">
                <a:solidFill>
                  <a:schemeClr val="tx2"/>
                </a:solidFill>
              </a:rPr>
              <a:t>cross-validation (K-Fold)</a:t>
            </a:r>
            <a:r>
              <a:rPr lang="en-IN" sz="2000" dirty="0">
                <a:solidFill>
                  <a:schemeClr val="tx2"/>
                </a:solidFill>
              </a:rPr>
              <a:t>, tune hyperparameters, and consider ensemble methods like Random Forest for better generalization.</a:t>
            </a: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14" name="Google Shape;214;p6"/>
          <p:cNvSpPr txBox="1"/>
          <p:nvPr/>
        </p:nvSpPr>
        <p:spPr>
          <a:xfrm>
            <a:off x="7858125" y="3050381"/>
            <a:ext cx="4748731" cy="245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Data Quality &amp; Preprocessing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Challenge:</a:t>
            </a:r>
            <a:r>
              <a:rPr lang="en-IN" sz="2000" dirty="0">
                <a:solidFill>
                  <a:schemeClr val="tx2"/>
                </a:solidFill>
              </a:rPr>
              <a:t> Missing, inconsistent, or noisy data can reduce ML accuracy. 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Solution:</a:t>
            </a:r>
            <a:r>
              <a:rPr lang="en-IN" sz="2000" dirty="0">
                <a:solidFill>
                  <a:schemeClr val="tx2"/>
                </a:solidFill>
              </a:rPr>
              <a:t> Use data cleaning techniques (handling missing values, outlier removal) and preprocessing pipelines in </a:t>
            </a:r>
            <a:r>
              <a:rPr lang="en-IN" sz="2000" b="1" dirty="0">
                <a:solidFill>
                  <a:schemeClr val="tx2"/>
                </a:solidFill>
              </a:rPr>
              <a:t>Pandas / NumPy</a:t>
            </a:r>
            <a:r>
              <a:rPr lang="en-IN" sz="20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6"/>
          <p:cNvSpPr txBox="1"/>
          <p:nvPr/>
        </p:nvSpPr>
        <p:spPr>
          <a:xfrm>
            <a:off x="7459918" y="7268745"/>
            <a:ext cx="4748731" cy="288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Integration Between Frontend &amp; Backend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Challenge:</a:t>
            </a:r>
            <a:r>
              <a:rPr lang="en-US" sz="2000" dirty="0">
                <a:solidFill>
                  <a:schemeClr val="tx2"/>
                </a:solidFill>
              </a:rPr>
              <a:t> Linking </a:t>
            </a:r>
            <a:r>
              <a:rPr lang="en-US" sz="2000" b="1" dirty="0" err="1">
                <a:solidFill>
                  <a:schemeClr val="tx2"/>
                </a:solidFill>
              </a:rPr>
              <a:t>Streamlit</a:t>
            </a:r>
            <a:r>
              <a:rPr lang="en-US" sz="2000" b="1" dirty="0">
                <a:solidFill>
                  <a:schemeClr val="tx2"/>
                </a:solidFill>
              </a:rPr>
              <a:t> frontend</a:t>
            </a:r>
            <a:r>
              <a:rPr lang="en-US" sz="2000" dirty="0">
                <a:solidFill>
                  <a:schemeClr val="tx2"/>
                </a:solidFill>
              </a:rPr>
              <a:t> with Python backend and ML models can be slow or error-prone.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Solution:</a:t>
            </a:r>
            <a:r>
              <a:rPr lang="en-US" sz="2000" dirty="0">
                <a:solidFill>
                  <a:schemeClr val="tx2"/>
                </a:solidFill>
              </a:rPr>
              <a:t> Use efficient data handling, cache ML model results with </a:t>
            </a:r>
            <a:r>
              <a:rPr lang="en-US" sz="2000" b="1" dirty="0" err="1">
                <a:solidFill>
                  <a:schemeClr val="tx2"/>
                </a:solidFill>
              </a:rPr>
              <a:t>Joblib</a:t>
            </a:r>
            <a:r>
              <a:rPr lang="en-US" sz="2000" dirty="0">
                <a:solidFill>
                  <a:schemeClr val="tx2"/>
                </a:solidFill>
              </a:rPr>
              <a:t>, and test API/data flows thoroughly.</a:t>
            </a: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20" name="Google Shape;220;p6"/>
          <p:cNvSpPr txBox="1"/>
          <p:nvPr/>
        </p:nvSpPr>
        <p:spPr>
          <a:xfrm>
            <a:off x="12606856" y="7214340"/>
            <a:ext cx="47487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A289B-7A3F-5893-E653-3FF64E229738}"/>
              </a:ext>
            </a:extLst>
          </p:cNvPr>
          <p:cNvSpPr txBox="1"/>
          <p:nvPr/>
        </p:nvSpPr>
        <p:spPr>
          <a:xfrm>
            <a:off x="13052322" y="7683910"/>
            <a:ext cx="47487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Deployment &amp; Scalability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Challenge:</a:t>
            </a:r>
            <a:r>
              <a:rPr lang="en-IN" sz="1800" dirty="0">
                <a:solidFill>
                  <a:schemeClr val="tx2"/>
                </a:solidFill>
              </a:rPr>
              <a:t> Supporting multiple users or large datasets may affect performance. 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Solution:</a:t>
            </a:r>
            <a:r>
              <a:rPr lang="en-IN" sz="1800" dirty="0">
                <a:solidFill>
                  <a:schemeClr val="tx2"/>
                </a:solidFill>
              </a:rPr>
              <a:t> Deploy on scalable platforms like </a:t>
            </a:r>
            <a:r>
              <a:rPr lang="en-IN" sz="1800" b="1" dirty="0" err="1">
                <a:solidFill>
                  <a:schemeClr val="tx2"/>
                </a:solidFill>
              </a:rPr>
              <a:t>Streamlit</a:t>
            </a:r>
            <a:r>
              <a:rPr lang="en-IN" sz="1800" b="1" dirty="0">
                <a:solidFill>
                  <a:schemeClr val="tx2"/>
                </a:solidFill>
              </a:rPr>
              <a:t> Cloud</a:t>
            </a:r>
            <a:r>
              <a:rPr lang="en-IN" sz="1800" dirty="0">
                <a:solidFill>
                  <a:schemeClr val="tx2"/>
                </a:solidFill>
              </a:rPr>
              <a:t> or </a:t>
            </a:r>
            <a:r>
              <a:rPr lang="en-IN" sz="1800" b="1" dirty="0">
                <a:solidFill>
                  <a:schemeClr val="tx2"/>
                </a:solidFill>
              </a:rPr>
              <a:t>Heroku</a:t>
            </a:r>
            <a:r>
              <a:rPr lang="en-IN" sz="1800" dirty="0">
                <a:solidFill>
                  <a:schemeClr val="tx2"/>
                </a:solidFill>
              </a:rPr>
              <a:t>, optimize code, and use lightweight data transfers.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/>
        </p:nvSpPr>
        <p:spPr>
          <a:xfrm>
            <a:off x="1538288" y="7359447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37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 dirty="0"/>
          </a:p>
        </p:txBody>
      </p:sp>
      <p:sp>
        <p:nvSpPr>
          <p:cNvPr id="248" name="Google Shape;248;p7"/>
          <p:cNvSpPr/>
          <p:nvPr/>
        </p:nvSpPr>
        <p:spPr>
          <a:xfrm>
            <a:off x="12382500" y="3229898"/>
            <a:ext cx="5448300" cy="5825612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DFEE7-4C1B-3377-31A0-AE3DBEBB0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9898"/>
            <a:ext cx="5091113" cy="5825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CD805D-95EA-E65A-8831-A2AC0307E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1" y="3229898"/>
            <a:ext cx="5747555" cy="5825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334050" y="6443350"/>
            <a:ext cx="91341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3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These mock-ups showcase a seamless experience for users, enhancing engagement through intuitive design and functionality.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FDFC29-E56B-5761-28C0-3C689D21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47" y="383458"/>
            <a:ext cx="8861270" cy="6059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151CA1-FE3B-C704-CB23-927D9AD4B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482" y="265470"/>
            <a:ext cx="8861271" cy="4508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DFD3B-B294-E583-1A90-9B1F3B4C2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8150" y="5143500"/>
            <a:ext cx="8684603" cy="4878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</a:t>
            </a:r>
            <a:endParaRPr dirty="0"/>
          </a:p>
        </p:txBody>
      </p:sp>
      <p:sp>
        <p:nvSpPr>
          <p:cNvPr id="4" name="AutoShape 6" descr="Generated image: Future upgrades for AirFly system">
            <a:extLst>
              <a:ext uri="{FF2B5EF4-FFF2-40B4-BE49-F238E27FC236}">
                <a16:creationId xmlns:a16="http://schemas.microsoft.com/office/drawing/2014/main" id="{14507E8B-FF44-5AF9-8706-88493C2668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4838" y="2658855"/>
            <a:ext cx="14438671" cy="717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04435-751A-35F3-C175-7A98EFB277C4}"/>
              </a:ext>
            </a:extLst>
          </p:cNvPr>
          <p:cNvSpPr txBox="1"/>
          <p:nvPr/>
        </p:nvSpPr>
        <p:spPr>
          <a:xfrm>
            <a:off x="1666568" y="2403987"/>
            <a:ext cx="11813458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Real-Time Data Integration</a:t>
            </a:r>
            <a:r>
              <a:rPr lang="en-US" sz="2800" dirty="0">
                <a:solidFill>
                  <a:schemeClr val="tx2"/>
                </a:solidFill>
              </a:rPr>
              <a:t> – Connect the dashboard with live APIs to provide real-time flight delay predictions and insights.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Predictive Analytics Improvements</a:t>
            </a:r>
            <a:r>
              <a:rPr lang="en-US" sz="2800" dirty="0">
                <a:solidFill>
                  <a:schemeClr val="tx2"/>
                </a:solidFill>
              </a:rPr>
              <a:t> – Use advanced ML models like </a:t>
            </a:r>
            <a:r>
              <a:rPr lang="en-US" sz="2800" dirty="0" err="1">
                <a:solidFill>
                  <a:schemeClr val="tx2"/>
                </a:solidFill>
              </a:rPr>
              <a:t>XGBoost</a:t>
            </a:r>
            <a:r>
              <a:rPr lang="en-US" sz="2800" dirty="0">
                <a:solidFill>
                  <a:schemeClr val="tx2"/>
                </a:solidFill>
              </a:rPr>
              <a:t>, LSTM, or deep learning to improve accuracy in predicting delays.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User Personalization</a:t>
            </a:r>
            <a:r>
              <a:rPr lang="en-US" sz="2800" dirty="0">
                <a:solidFill>
                  <a:schemeClr val="tx2"/>
                </a:solidFill>
              </a:rPr>
              <a:t> – Allow users to customize dashboards, select preferred routes, airlines, and notification alerts.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Mobile-Friendly Version</a:t>
            </a:r>
            <a:r>
              <a:rPr lang="en-US" sz="2800" dirty="0">
                <a:solidFill>
                  <a:schemeClr val="tx2"/>
                </a:solidFill>
              </a:rPr>
              <a:t> – Develop a responsive mobile interface for access on smartphones and tablets.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Interactive Visualizations</a:t>
            </a:r>
            <a:r>
              <a:rPr lang="en-US" sz="2800" dirty="0">
                <a:solidFill>
                  <a:schemeClr val="tx2"/>
                </a:solidFill>
              </a:rPr>
              <a:t> – Add more interactive charts, heatmaps, and route analysis for better user engagement.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Automated Reporting</a:t>
            </a:r>
            <a:r>
              <a:rPr lang="en-US" sz="2800" dirty="0">
                <a:solidFill>
                  <a:schemeClr val="tx2"/>
                </a:solidFill>
              </a:rPr>
              <a:t> – Generate scheduled reports with key insights for stakeholders via email or cloud storage.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Sentiment &amp; Social Media Analysis</a:t>
            </a:r>
            <a:r>
              <a:rPr lang="en-US" sz="2800" dirty="0">
                <a:solidFill>
                  <a:schemeClr val="tx2"/>
                </a:solidFill>
              </a:rPr>
              <a:t> – Integrate passenger reviews and social media feedback for a holistic view of airline performance.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Scalability &amp; Cloud Deployment</a:t>
            </a:r>
            <a:r>
              <a:rPr lang="en-US" sz="2800" dirty="0">
                <a:solidFill>
                  <a:schemeClr val="tx2"/>
                </a:solidFill>
              </a:rPr>
              <a:t> – Deploy the application on cloud platforms like AWS or Azure for better performance and scalability.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PresentationFormat>Custom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Bricolage Grotesque SemiBold</vt:lpstr>
      <vt:lpstr>Times</vt:lpstr>
      <vt:lpstr>Bricolage Grotesque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chandrika manukonda</dc:creator>
  <cp:lastModifiedBy>chandrika manukonda</cp:lastModifiedBy>
  <cp:revision>2</cp:revision>
  <dcterms:created xsi:type="dcterms:W3CDTF">2006-08-16T00:00:00Z</dcterms:created>
  <dcterms:modified xsi:type="dcterms:W3CDTF">2026-03-29T11:37:57Z</dcterms:modified>
</cp:coreProperties>
</file>